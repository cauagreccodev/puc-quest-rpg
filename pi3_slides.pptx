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Water Brush" charset="1" panose="00000000000000000000"/>
      <p:regular r:id="rId17"/>
    </p:embeddedFont>
    <p:embeddedFont>
      <p:font typeface="Bentham" charset="1" panose="02000503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789772" y="3531470"/>
            <a:ext cx="3999166" cy="6859981"/>
            <a:chOff x="0" y="0"/>
            <a:chExt cx="5332222" cy="9146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2222" cy="9146667"/>
            </a:xfrm>
            <a:custGeom>
              <a:avLst/>
              <a:gdLst/>
              <a:ahLst/>
              <a:cxnLst/>
              <a:rect r="r" b="b" t="t" l="l"/>
              <a:pathLst>
                <a:path h="9146667" w="5332222">
                  <a:moveTo>
                    <a:pt x="0" y="0"/>
                  </a:moveTo>
                  <a:lnTo>
                    <a:pt x="5332222" y="0"/>
                  </a:lnTo>
                  <a:lnTo>
                    <a:pt x="5332222" y="9146667"/>
                  </a:lnTo>
                  <a:lnTo>
                    <a:pt x="0" y="914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64" t="0" r="-226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703" y="7255012"/>
            <a:ext cx="4774787" cy="3136440"/>
            <a:chOff x="0" y="0"/>
            <a:chExt cx="6366383" cy="418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66383" cy="4181983"/>
            </a:xfrm>
            <a:custGeom>
              <a:avLst/>
              <a:gdLst/>
              <a:ahLst/>
              <a:cxnLst/>
              <a:rect r="r" b="b" t="t" l="l"/>
              <a:pathLst>
                <a:path h="4181983" w="6366383">
                  <a:moveTo>
                    <a:pt x="0" y="0"/>
                  </a:moveTo>
                  <a:lnTo>
                    <a:pt x="6366383" y="0"/>
                  </a:lnTo>
                  <a:lnTo>
                    <a:pt x="6366383" y="4181983"/>
                  </a:lnTo>
                  <a:lnTo>
                    <a:pt x="0" y="4181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" r="0" b="-49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210675" y="8085268"/>
            <a:ext cx="5659384" cy="2346074"/>
          </a:xfrm>
          <a:custGeom>
            <a:avLst/>
            <a:gdLst/>
            <a:ahLst/>
            <a:cxnLst/>
            <a:rect r="r" b="b" t="t" l="l"/>
            <a:pathLst>
              <a:path h="2346074" w="5659384">
                <a:moveTo>
                  <a:pt x="0" y="0"/>
                </a:moveTo>
                <a:lnTo>
                  <a:pt x="5659384" y="0"/>
                </a:lnTo>
                <a:lnTo>
                  <a:pt x="5659384" y="2346074"/>
                </a:lnTo>
                <a:lnTo>
                  <a:pt x="0" y="23460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9" r="0" b="-7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4811" y="120910"/>
            <a:ext cx="4137679" cy="2513171"/>
          </a:xfrm>
          <a:custGeom>
            <a:avLst/>
            <a:gdLst/>
            <a:ahLst/>
            <a:cxnLst/>
            <a:rect r="r" b="b" t="t" l="l"/>
            <a:pathLst>
              <a:path h="2513171" w="4137679">
                <a:moveTo>
                  <a:pt x="0" y="0"/>
                </a:moveTo>
                <a:lnTo>
                  <a:pt x="4137679" y="0"/>
                </a:lnTo>
                <a:lnTo>
                  <a:pt x="4137679" y="2513172"/>
                </a:lnTo>
                <a:lnTo>
                  <a:pt x="0" y="2513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9342" y="3453146"/>
            <a:ext cx="15305561" cy="4098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60"/>
              </a:lnSpc>
            </a:pPr>
            <a:r>
              <a:rPr lang="en-US" sz="15055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PUC GUEST RPG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927081" y="587864"/>
            <a:ext cx="5725392" cy="2046208"/>
          </a:xfrm>
          <a:custGeom>
            <a:avLst/>
            <a:gdLst/>
            <a:ahLst/>
            <a:cxnLst/>
            <a:rect r="r" b="b" t="t" l="l"/>
            <a:pathLst>
              <a:path h="2046208" w="5725392">
                <a:moveTo>
                  <a:pt x="0" y="0"/>
                </a:moveTo>
                <a:lnTo>
                  <a:pt x="5725392" y="0"/>
                </a:lnTo>
                <a:lnTo>
                  <a:pt x="5725392" y="2046208"/>
                </a:lnTo>
                <a:lnTo>
                  <a:pt x="0" y="20462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4" t="0" r="-34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132832" y="-96488"/>
            <a:ext cx="9231859" cy="10383488"/>
          </a:xfrm>
          <a:custGeom>
            <a:avLst/>
            <a:gdLst/>
            <a:ahLst/>
            <a:cxnLst/>
            <a:rect r="r" b="b" t="t" l="l"/>
            <a:pathLst>
              <a:path h="10383488" w="9231859">
                <a:moveTo>
                  <a:pt x="0" y="0"/>
                </a:moveTo>
                <a:lnTo>
                  <a:pt x="9231859" y="0"/>
                </a:lnTo>
                <a:lnTo>
                  <a:pt x="9231859" y="10383488"/>
                </a:lnTo>
                <a:lnTo>
                  <a:pt x="0" y="1038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91" r="0" b="-9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545398" y="7844047"/>
            <a:ext cx="4742602" cy="2442953"/>
          </a:xfrm>
          <a:custGeom>
            <a:avLst/>
            <a:gdLst/>
            <a:ahLst/>
            <a:cxnLst/>
            <a:rect r="r" b="b" t="t" l="l"/>
            <a:pathLst>
              <a:path h="2442953" w="4742602">
                <a:moveTo>
                  <a:pt x="4742602" y="0"/>
                </a:moveTo>
                <a:lnTo>
                  <a:pt x="0" y="0"/>
                </a:lnTo>
                <a:lnTo>
                  <a:pt x="0" y="2442953"/>
                </a:lnTo>
                <a:lnTo>
                  <a:pt x="4742602" y="2442953"/>
                </a:lnTo>
                <a:lnTo>
                  <a:pt x="47426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87" r="0" b="-28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2579">
            <a:off x="2108902" y="8197291"/>
            <a:ext cx="3400511" cy="2058924"/>
          </a:xfrm>
          <a:custGeom>
            <a:avLst/>
            <a:gdLst/>
            <a:ahLst/>
            <a:cxnLst/>
            <a:rect r="r" b="b" t="t" l="l"/>
            <a:pathLst>
              <a:path h="2058924" w="3400511">
                <a:moveTo>
                  <a:pt x="0" y="0"/>
                </a:moveTo>
                <a:lnTo>
                  <a:pt x="3400510" y="0"/>
                </a:lnTo>
                <a:lnTo>
                  <a:pt x="3400510" y="2058924"/>
                </a:lnTo>
                <a:lnTo>
                  <a:pt x="0" y="2058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67998" y="2262805"/>
            <a:ext cx="13391302" cy="549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1"/>
              </a:lnSpc>
            </a:pPr>
            <a:r>
              <a:rPr lang="en-US" sz="380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Você assume o papel de um universitário que acabou pegando dependência em matérias importantes do 1º e 2º ano da faculdade.</a:t>
            </a:r>
          </a:p>
          <a:p>
            <a:pPr algn="just">
              <a:lnSpc>
                <a:spcPts val="4761"/>
              </a:lnSpc>
            </a:pPr>
          </a:p>
          <a:p>
            <a:pPr algn="just">
              <a:lnSpc>
                <a:spcPts val="4761"/>
              </a:lnSpc>
            </a:pPr>
            <a:r>
              <a:rPr lang="en-US" sz="380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Para finalmente conquistar o diploma, será necessário enfrentar essas disciplinas como verdadeiros desafios.</a:t>
            </a:r>
          </a:p>
          <a:p>
            <a:pPr algn="just">
              <a:lnSpc>
                <a:spcPts val="4761"/>
              </a:lnSpc>
            </a:pPr>
          </a:p>
          <a:p>
            <a:pPr algn="just">
              <a:lnSpc>
                <a:spcPts val="4761"/>
              </a:lnSpc>
            </a:pPr>
            <a:r>
              <a:rPr lang="en-US" sz="380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Cada matéria se transforma em um estágio, e cada estágio possui um Boss que só pode ser derrotado com conhecimento.</a:t>
            </a:r>
          </a:p>
          <a:p>
            <a:pPr algn="just">
              <a:lnSpc>
                <a:spcPts val="476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00821" y="774917"/>
            <a:ext cx="8358492" cy="113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6"/>
              </a:lnSpc>
            </a:pPr>
            <a:r>
              <a:rPr lang="en-US" sz="11372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Contextualização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779123" y="2418617"/>
            <a:ext cx="4287336" cy="8233867"/>
          </a:xfrm>
          <a:custGeom>
            <a:avLst/>
            <a:gdLst/>
            <a:ahLst/>
            <a:cxnLst/>
            <a:rect r="r" b="b" t="t" l="l"/>
            <a:pathLst>
              <a:path h="8233867" w="4287336">
                <a:moveTo>
                  <a:pt x="0" y="0"/>
                </a:moveTo>
                <a:lnTo>
                  <a:pt x="4287336" y="0"/>
                </a:lnTo>
                <a:lnTo>
                  <a:pt x="4287336" y="8233867"/>
                </a:lnTo>
                <a:lnTo>
                  <a:pt x="0" y="823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6" t="0" r="-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0255" y="3800408"/>
            <a:ext cx="2973876" cy="7174487"/>
          </a:xfrm>
          <a:custGeom>
            <a:avLst/>
            <a:gdLst/>
            <a:ahLst/>
            <a:cxnLst/>
            <a:rect r="r" b="b" t="t" l="l"/>
            <a:pathLst>
              <a:path h="7174487" w="2973876">
                <a:moveTo>
                  <a:pt x="0" y="0"/>
                </a:moveTo>
                <a:lnTo>
                  <a:pt x="2973876" y="0"/>
                </a:lnTo>
                <a:lnTo>
                  <a:pt x="2973876" y="7174488"/>
                </a:lnTo>
                <a:lnTo>
                  <a:pt x="0" y="71744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3" t="0" r="-7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1648" y="1087341"/>
            <a:ext cx="9504705" cy="143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1"/>
              </a:lnSpc>
            </a:pPr>
            <a:r>
              <a:rPr lang="en-US" sz="11400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Objetivo da Jornada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25298" y="7798213"/>
            <a:ext cx="1849431" cy="3176673"/>
          </a:xfrm>
          <a:custGeom>
            <a:avLst/>
            <a:gdLst/>
            <a:ahLst/>
            <a:cxnLst/>
            <a:rect r="r" b="b" t="t" l="l"/>
            <a:pathLst>
              <a:path h="3176673" w="1849431">
                <a:moveTo>
                  <a:pt x="0" y="0"/>
                </a:moveTo>
                <a:lnTo>
                  <a:pt x="1849431" y="0"/>
                </a:lnTo>
                <a:lnTo>
                  <a:pt x="1849431" y="3176673"/>
                </a:lnTo>
                <a:lnTo>
                  <a:pt x="0" y="3176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41" t="0" r="-14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81916" y="3269718"/>
            <a:ext cx="11992813" cy="472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6"/>
              </a:lnSpc>
            </a:pPr>
            <a:r>
              <a:rPr lang="en-US" sz="370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O principal objetivo do jogo é explorar fisicamente o campus da PUC-Campinas, desbloquear áreas, derrotar os Bosses e obter as chaves de cada núcleo.</a:t>
            </a:r>
          </a:p>
          <a:p>
            <a:pPr algn="just">
              <a:lnSpc>
                <a:spcPts val="4626"/>
              </a:lnSpc>
            </a:pPr>
          </a:p>
          <a:p>
            <a:pPr algn="just">
              <a:lnSpc>
                <a:spcPts val="4626"/>
              </a:lnSpc>
            </a:pPr>
            <a:r>
              <a:rPr lang="en-US" sz="370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Ao vencer todos os desafios, o jogador conquista a Chave do Diploma, que desbloqueia uma funcionalidade especial no  Centro de Tecnologia (CT) da PUC.</a:t>
            </a:r>
          </a:p>
          <a:p>
            <a:pPr algn="just">
              <a:lnSpc>
                <a:spcPts val="462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06837" y="805330"/>
            <a:ext cx="13674327" cy="14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2"/>
              </a:lnSpc>
            </a:pPr>
            <a:r>
              <a:rPr lang="en-US" sz="11400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Exploração por Geolocalização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199159" y="6939577"/>
            <a:ext cx="7080075" cy="4637446"/>
            <a:chOff x="0" y="0"/>
            <a:chExt cx="9440100" cy="6183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40037" cy="6183249"/>
            </a:xfrm>
            <a:custGeom>
              <a:avLst/>
              <a:gdLst/>
              <a:ahLst/>
              <a:cxnLst/>
              <a:rect r="r" b="b" t="t" l="l"/>
              <a:pathLst>
                <a:path h="6183249" w="9440037">
                  <a:moveTo>
                    <a:pt x="0" y="0"/>
                  </a:moveTo>
                  <a:lnTo>
                    <a:pt x="9440037" y="0"/>
                  </a:lnTo>
                  <a:lnTo>
                    <a:pt x="9440037" y="6183249"/>
                  </a:lnTo>
                  <a:lnTo>
                    <a:pt x="0" y="6183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" r="0" b="-1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980400">
            <a:off x="13946157" y="5212799"/>
            <a:ext cx="4643405" cy="4868152"/>
          </a:xfrm>
          <a:custGeom>
            <a:avLst/>
            <a:gdLst/>
            <a:ahLst/>
            <a:cxnLst/>
            <a:rect r="r" b="b" t="t" l="l"/>
            <a:pathLst>
              <a:path h="4868152" w="4643405">
                <a:moveTo>
                  <a:pt x="0" y="0"/>
                </a:moveTo>
                <a:lnTo>
                  <a:pt x="4643405" y="0"/>
                </a:lnTo>
                <a:lnTo>
                  <a:pt x="4643405" y="4868153"/>
                </a:lnTo>
                <a:lnTo>
                  <a:pt x="0" y="4868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76112" y="2631471"/>
            <a:ext cx="11156895" cy="642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58" indent="-259086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O sistema utiliza GPS do Google para transformar o espaço físico em parte da experiência do jogo.</a:t>
            </a:r>
          </a:p>
          <a:p>
            <a:pPr algn="l" marL="777258" indent="-259086" lvl="2">
              <a:lnSpc>
                <a:spcPts val="4249"/>
              </a:lnSpc>
            </a:pPr>
          </a:p>
          <a:p>
            <a:pPr algn="l" marL="777258" indent="-259086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O personagem se movimenta conforme o jogador caminha no mundo real.</a:t>
            </a:r>
          </a:p>
          <a:p>
            <a:pPr algn="l" marL="777258" indent="-259086" lvl="2">
              <a:lnSpc>
                <a:spcPts val="4249"/>
              </a:lnSpc>
            </a:pPr>
          </a:p>
          <a:p>
            <a:pPr algn="l" marL="777258" indent="-259086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Áreas específicas do campus liberam novos estágios, desafios e batalhas contra Bosses.</a:t>
            </a:r>
          </a:p>
          <a:p>
            <a:pPr algn="l" marL="777258" indent="-259086" lvl="2">
              <a:lnSpc>
                <a:spcPts val="4249"/>
              </a:lnSpc>
            </a:pPr>
          </a:p>
          <a:p>
            <a:pPr algn="l" marL="777258" indent="-259086" lvl="2">
              <a:lnSpc>
                <a:spcPts val="4249"/>
              </a:lnSpc>
              <a:buFont typeface="Arial"/>
              <a:buChar char="⚬"/>
            </a:pPr>
            <a:r>
              <a:rPr lang="en-US" sz="3399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Essa mecânica conecta o ambiente real da universidade com o mundo virtual do RPG.</a:t>
            </a:r>
          </a:p>
          <a:p>
            <a:pPr algn="just" marL="777258" indent="-259086" lvl="2">
              <a:lnSpc>
                <a:spcPts val="42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9500" y="8157391"/>
            <a:ext cx="3235214" cy="2216125"/>
            <a:chOff x="0" y="0"/>
            <a:chExt cx="4313618" cy="29548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13682" cy="2954782"/>
            </a:xfrm>
            <a:custGeom>
              <a:avLst/>
              <a:gdLst/>
              <a:ahLst/>
              <a:cxnLst/>
              <a:rect r="r" b="b" t="t" l="l"/>
              <a:pathLst>
                <a:path h="2954782" w="4313682">
                  <a:moveTo>
                    <a:pt x="0" y="0"/>
                  </a:moveTo>
                  <a:lnTo>
                    <a:pt x="4313682" y="0"/>
                  </a:lnTo>
                  <a:lnTo>
                    <a:pt x="4313682" y="2954782"/>
                  </a:lnTo>
                  <a:lnTo>
                    <a:pt x="0" y="2954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1" b="-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64700" y="2468909"/>
            <a:ext cx="13070169" cy="603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Combate básico:</a:t>
            </a:r>
          </a:p>
          <a:p>
            <a:pPr algn="l" marL="868023" indent="-289341" lvl="2">
              <a:lnSpc>
                <a:spcPts val="4746"/>
              </a:lnSpc>
              <a:buFont typeface="Arial"/>
              <a:buChar char="⚬"/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As batalhas acontecem por meio de perguntas técnicas.</a:t>
            </a:r>
          </a:p>
          <a:p>
            <a:pPr algn="l" marL="868023" indent="-289341" lvl="2">
              <a:lnSpc>
                <a:spcPts val="4746"/>
              </a:lnSpc>
              <a:buFont typeface="Arial"/>
              <a:buChar char="⚬"/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Ao acertar uma questão, o jogador causa dano no Boss</a:t>
            </a:r>
          </a:p>
          <a:p>
            <a:pPr algn="l" marL="868023" indent="-289341" lvl="2">
              <a:lnSpc>
                <a:spcPts val="4746"/>
              </a:lnSpc>
              <a:buFont typeface="Arial"/>
              <a:buChar char="⚬"/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Ao errar, recebe um contra-ataque.</a:t>
            </a:r>
          </a:p>
          <a:p>
            <a:pPr algn="l" marL="868023" indent="-289341" lvl="2">
              <a:lnSpc>
                <a:spcPts val="4746"/>
              </a:lnSpc>
            </a:pPr>
          </a:p>
          <a:p>
            <a:pPr algn="l">
              <a:lnSpc>
                <a:spcPts val="4746"/>
              </a:lnSpc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O jogador também possui itens consumíveis em sua </a:t>
            </a:r>
            <a:r>
              <a:rPr lang="en-US" sz="3797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mochila</a:t>
            </a: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</a:t>
            </a:r>
          </a:p>
          <a:p>
            <a:pPr algn="l" marL="868023" indent="-289341" lvl="2">
              <a:lnSpc>
                <a:spcPts val="4746"/>
              </a:lnSpc>
              <a:buFont typeface="Arial"/>
              <a:buChar char="⚬"/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Erva Divina: recupera 40 HP, mas consome o turno.</a:t>
            </a:r>
          </a:p>
          <a:p>
            <a:pPr algn="l" marL="868023" indent="-289341" lvl="2">
              <a:lnSpc>
                <a:spcPts val="4746"/>
              </a:lnSpc>
              <a:buFont typeface="Arial"/>
              <a:buChar char="⚬"/>
            </a:pPr>
            <a:r>
              <a:rPr lang="en-US" sz="3797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Erva da Ira: dobra o próximo ataque, mas também aumenta o risco caso o jogador erre.</a:t>
            </a:r>
          </a:p>
          <a:p>
            <a:pPr algn="just" marL="868023" indent="-289341" lvl="2">
              <a:lnSpc>
                <a:spcPts val="474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914509" y="936818"/>
            <a:ext cx="8143208" cy="104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9"/>
              </a:lnSpc>
            </a:pPr>
            <a:r>
              <a:rPr lang="en-US" sz="8300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Dinâmica da Batalha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33734" y="8157391"/>
            <a:ext cx="3517249" cy="2129609"/>
          </a:xfrm>
          <a:custGeom>
            <a:avLst/>
            <a:gdLst/>
            <a:ahLst/>
            <a:cxnLst/>
            <a:rect r="r" b="b" t="t" l="l"/>
            <a:pathLst>
              <a:path h="2129609" w="3517249">
                <a:moveTo>
                  <a:pt x="0" y="0"/>
                </a:moveTo>
                <a:lnTo>
                  <a:pt x="3517249" y="0"/>
                </a:lnTo>
                <a:lnTo>
                  <a:pt x="3517249" y="2129609"/>
                </a:lnTo>
                <a:lnTo>
                  <a:pt x="0" y="21296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7" r="0" b="-21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8560022"/>
            <a:ext cx="4685271" cy="1674476"/>
          </a:xfrm>
          <a:custGeom>
            <a:avLst/>
            <a:gdLst/>
            <a:ahLst/>
            <a:cxnLst/>
            <a:rect r="r" b="b" t="t" l="l"/>
            <a:pathLst>
              <a:path h="1674476" w="4685271">
                <a:moveTo>
                  <a:pt x="0" y="0"/>
                </a:moveTo>
                <a:lnTo>
                  <a:pt x="4685271" y="0"/>
                </a:lnTo>
                <a:lnTo>
                  <a:pt x="4685271" y="1674476"/>
                </a:lnTo>
                <a:lnTo>
                  <a:pt x="0" y="1674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6" r="0" b="-4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48468" y="3014301"/>
            <a:ext cx="11399736" cy="582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6"/>
              </a:lnSpc>
            </a:pPr>
            <a:r>
              <a:rPr lang="en-US" sz="3964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 jornada é dividida em cinco estágios principais:</a:t>
            </a:r>
          </a:p>
          <a:p>
            <a:pPr algn="just">
              <a:lnSpc>
                <a:spcPts val="4024"/>
              </a:lnSpc>
            </a:pPr>
          </a:p>
          <a:p>
            <a:pPr algn="just" marL="736159" indent="-245386" lvl="2">
              <a:lnSpc>
                <a:spcPts val="4024"/>
              </a:lnSpc>
              <a:buAutoNum type="arabicPeriod" startAt="1"/>
            </a:pPr>
            <a:r>
              <a:rPr lang="en-US" sz="32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Matemática Discreta</a:t>
            </a:r>
          </a:p>
          <a:p>
            <a:pPr algn="just" marL="736159" indent="-245386" lvl="2">
              <a:lnSpc>
                <a:spcPts val="4024"/>
              </a:lnSpc>
              <a:buAutoNum type="arabicPeriod" startAt="1"/>
            </a:pPr>
            <a:r>
              <a:rPr lang="en-US" sz="32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Algoritmos e Lógica de Programação</a:t>
            </a:r>
          </a:p>
          <a:p>
            <a:pPr algn="just" marL="736159" indent="-245386" lvl="2">
              <a:lnSpc>
                <a:spcPts val="4024"/>
              </a:lnSpc>
              <a:buAutoNum type="arabicPeriod" startAt="1"/>
            </a:pPr>
            <a:r>
              <a:rPr lang="en-US" sz="32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Estruturas de Dados I e II</a:t>
            </a:r>
          </a:p>
          <a:p>
            <a:pPr algn="just" marL="736159" indent="-245386" lvl="2">
              <a:lnSpc>
                <a:spcPts val="4024"/>
              </a:lnSpc>
              <a:buAutoNum type="arabicPeriod" startAt="1"/>
            </a:pPr>
            <a:r>
              <a:rPr lang="en-US" sz="32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Banco de Dados I e II</a:t>
            </a:r>
          </a:p>
          <a:p>
            <a:pPr algn="just" marL="736159" indent="-245386" lvl="2">
              <a:lnSpc>
                <a:spcPts val="4024"/>
              </a:lnSpc>
              <a:buAutoNum type="arabicPeriod" startAt="1"/>
            </a:pPr>
            <a:r>
              <a:rPr lang="en-US" sz="32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Organização e Arquitetura de Computadores</a:t>
            </a:r>
          </a:p>
          <a:p>
            <a:pPr algn="just" marL="736159" indent="-245386" lvl="2">
              <a:lnSpc>
                <a:spcPts val="4024"/>
              </a:lnSpc>
            </a:pPr>
          </a:p>
          <a:p>
            <a:pPr algn="just">
              <a:lnSpc>
                <a:spcPts val="4399"/>
              </a:lnSpc>
            </a:pPr>
            <a:r>
              <a:rPr lang="en-US" sz="3520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Cada estágio representa uma disciplina em que o jogador precisa provar seu conhecimento para avançar.</a:t>
            </a:r>
          </a:p>
          <a:p>
            <a:pPr algn="just" marL="736159" indent="-245386" lvl="2">
              <a:lnSpc>
                <a:spcPts val="4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765949" y="966445"/>
            <a:ext cx="7487948" cy="143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2"/>
              </a:lnSpc>
            </a:pPr>
            <a:r>
              <a:rPr lang="en-US" sz="11400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Estágios do Jogo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111425" y="3294955"/>
            <a:ext cx="4280249" cy="7412688"/>
          </a:xfrm>
          <a:custGeom>
            <a:avLst/>
            <a:gdLst/>
            <a:ahLst/>
            <a:cxnLst/>
            <a:rect r="r" b="b" t="t" l="l"/>
            <a:pathLst>
              <a:path h="7412688" w="4280249">
                <a:moveTo>
                  <a:pt x="0" y="0"/>
                </a:moveTo>
                <a:lnTo>
                  <a:pt x="4280250" y="0"/>
                </a:lnTo>
                <a:lnTo>
                  <a:pt x="4280250" y="7412688"/>
                </a:lnTo>
                <a:lnTo>
                  <a:pt x="0" y="741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" t="0" r="-2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83250" y="8294884"/>
            <a:ext cx="1298391" cy="1992116"/>
          </a:xfrm>
          <a:custGeom>
            <a:avLst/>
            <a:gdLst/>
            <a:ahLst/>
            <a:cxnLst/>
            <a:rect r="r" b="b" t="t" l="l"/>
            <a:pathLst>
              <a:path h="1992116" w="1298391">
                <a:moveTo>
                  <a:pt x="0" y="0"/>
                </a:moveTo>
                <a:lnTo>
                  <a:pt x="1298391" y="0"/>
                </a:lnTo>
                <a:lnTo>
                  <a:pt x="1298391" y="1992116"/>
                </a:lnTo>
                <a:lnTo>
                  <a:pt x="0" y="19921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6" t="0" r="-4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92514" y="1723730"/>
            <a:ext cx="3964391" cy="8195120"/>
            <a:chOff x="0" y="0"/>
            <a:chExt cx="5285854" cy="109268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85867" cy="10926826"/>
            </a:xfrm>
            <a:custGeom>
              <a:avLst/>
              <a:gdLst/>
              <a:ahLst/>
              <a:cxnLst/>
              <a:rect r="r" b="b" t="t" l="l"/>
              <a:pathLst>
                <a:path h="10926826" w="5285867">
                  <a:moveTo>
                    <a:pt x="0" y="0"/>
                  </a:moveTo>
                  <a:lnTo>
                    <a:pt x="5285867" y="0"/>
                  </a:lnTo>
                  <a:lnTo>
                    <a:pt x="5285867" y="10926826"/>
                  </a:lnTo>
                  <a:lnTo>
                    <a:pt x="0" y="10926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0" b="-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61805" y="1723730"/>
            <a:ext cx="3964391" cy="8195120"/>
            <a:chOff x="0" y="0"/>
            <a:chExt cx="5285854" cy="109268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85867" cy="10926826"/>
            </a:xfrm>
            <a:custGeom>
              <a:avLst/>
              <a:gdLst/>
              <a:ahLst/>
              <a:cxnLst/>
              <a:rect r="r" b="b" t="t" l="l"/>
              <a:pathLst>
                <a:path h="10926826" w="5285867">
                  <a:moveTo>
                    <a:pt x="0" y="0"/>
                  </a:moveTo>
                  <a:lnTo>
                    <a:pt x="5285867" y="0"/>
                  </a:lnTo>
                  <a:lnTo>
                    <a:pt x="5285867" y="10926826"/>
                  </a:lnTo>
                  <a:lnTo>
                    <a:pt x="0" y="10926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0" b="-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30274" y="1723730"/>
            <a:ext cx="3964391" cy="8195120"/>
            <a:chOff x="0" y="0"/>
            <a:chExt cx="5285854" cy="109268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85867" cy="10926826"/>
            </a:xfrm>
            <a:custGeom>
              <a:avLst/>
              <a:gdLst/>
              <a:ahLst/>
              <a:cxnLst/>
              <a:rect r="r" b="b" t="t" l="l"/>
              <a:pathLst>
                <a:path h="10926826" w="5285867">
                  <a:moveTo>
                    <a:pt x="0" y="0"/>
                  </a:moveTo>
                  <a:lnTo>
                    <a:pt x="5285867" y="0"/>
                  </a:lnTo>
                  <a:lnTo>
                    <a:pt x="5285867" y="10926826"/>
                  </a:lnTo>
                  <a:lnTo>
                    <a:pt x="0" y="10926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" r="0" b="-6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189581" y="416146"/>
            <a:ext cx="5908837" cy="113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5"/>
              </a:lnSpc>
            </a:pPr>
            <a:r>
              <a:rPr lang="en-US" sz="8995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Estágios do Jogo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12028" y="1655369"/>
            <a:ext cx="4057240" cy="8387058"/>
            <a:chOff x="0" y="0"/>
            <a:chExt cx="5409654" cy="111827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09692" cy="11182731"/>
            </a:xfrm>
            <a:custGeom>
              <a:avLst/>
              <a:gdLst/>
              <a:ahLst/>
              <a:cxnLst/>
              <a:rect r="r" b="b" t="t" l="l"/>
              <a:pathLst>
                <a:path h="11182731" w="5409692">
                  <a:moveTo>
                    <a:pt x="0" y="0"/>
                  </a:moveTo>
                  <a:lnTo>
                    <a:pt x="5409692" y="0"/>
                  </a:lnTo>
                  <a:lnTo>
                    <a:pt x="5409692" y="11182731"/>
                  </a:lnTo>
                  <a:lnTo>
                    <a:pt x="0" y="1118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0" b="-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4582" y="1655369"/>
            <a:ext cx="4057240" cy="8387058"/>
            <a:chOff x="0" y="0"/>
            <a:chExt cx="5409654" cy="111827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09692" cy="11182731"/>
            </a:xfrm>
            <a:custGeom>
              <a:avLst/>
              <a:gdLst/>
              <a:ahLst/>
              <a:cxnLst/>
              <a:rect r="r" b="b" t="t" l="l"/>
              <a:pathLst>
                <a:path h="11182731" w="5409692">
                  <a:moveTo>
                    <a:pt x="0" y="0"/>
                  </a:moveTo>
                  <a:lnTo>
                    <a:pt x="5409692" y="0"/>
                  </a:lnTo>
                  <a:lnTo>
                    <a:pt x="5409692" y="11182731"/>
                  </a:lnTo>
                  <a:lnTo>
                    <a:pt x="0" y="1118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0" b="-6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88183" y="408267"/>
            <a:ext cx="5911633" cy="1137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9"/>
              </a:lnSpc>
            </a:pPr>
            <a:r>
              <a:rPr lang="en-US" sz="9000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Estágios do Jogo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923520">
            <a:off x="14455073" y="8197929"/>
            <a:ext cx="3479702" cy="2643521"/>
          </a:xfrm>
          <a:custGeom>
            <a:avLst/>
            <a:gdLst/>
            <a:ahLst/>
            <a:cxnLst/>
            <a:rect r="r" b="b" t="t" l="l"/>
            <a:pathLst>
              <a:path h="2643521" w="3479702">
                <a:moveTo>
                  <a:pt x="0" y="0"/>
                </a:moveTo>
                <a:lnTo>
                  <a:pt x="3479702" y="0"/>
                </a:lnTo>
                <a:lnTo>
                  <a:pt x="3479702" y="2643521"/>
                </a:lnTo>
                <a:lnTo>
                  <a:pt x="0" y="26435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" t="0" r="-8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891854" y="7002599"/>
            <a:ext cx="6044708" cy="3598678"/>
          </a:xfrm>
          <a:custGeom>
            <a:avLst/>
            <a:gdLst/>
            <a:ahLst/>
            <a:cxnLst/>
            <a:rect r="r" b="b" t="t" l="l"/>
            <a:pathLst>
              <a:path h="3598678" w="6044708">
                <a:moveTo>
                  <a:pt x="6044708" y="0"/>
                </a:moveTo>
                <a:lnTo>
                  <a:pt x="0" y="0"/>
                </a:lnTo>
                <a:lnTo>
                  <a:pt x="0" y="3598678"/>
                </a:lnTo>
                <a:lnTo>
                  <a:pt x="6044708" y="3598678"/>
                </a:lnTo>
                <a:lnTo>
                  <a:pt x="604470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1853" y="3159833"/>
            <a:ext cx="16427120" cy="36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5858" indent="-345286" lvl="2">
              <a:lnSpc>
                <a:spcPts val="5664"/>
              </a:lnSpc>
              <a:buFont typeface="Arial"/>
              <a:buChar char="⚬"/>
            </a:pP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Flutter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 desenvolvimento mobile e web.</a:t>
            </a:r>
          </a:p>
          <a:p>
            <a:pPr algn="l" marL="1035858" indent="-345286" lvl="2">
              <a:lnSpc>
                <a:spcPts val="5664"/>
              </a:lnSpc>
              <a:buFont typeface="Arial"/>
              <a:buChar char="⚬"/>
            </a:pP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Flame Engine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 movimentação e renderização 2D.</a:t>
            </a:r>
          </a:p>
          <a:p>
            <a:pPr algn="l" marL="1035858" indent="-345286" lvl="2">
              <a:lnSpc>
                <a:spcPts val="5664"/>
              </a:lnSpc>
              <a:buFont typeface="Arial"/>
              <a:buChar char="⚬"/>
            </a:pP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Firebase Auth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 </a:t>
            </a: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&amp;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 </a:t>
            </a: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Firestore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 contas, login e salvamento em nuvem.</a:t>
            </a:r>
          </a:p>
          <a:p>
            <a:pPr algn="l" marL="1035858" indent="-345286" lvl="2">
              <a:lnSpc>
                <a:spcPts val="5664"/>
              </a:lnSpc>
              <a:buFont typeface="Arial"/>
              <a:buChar char="⚬"/>
            </a:pP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Geolocator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 uso de GPS e cálculo de distância.</a:t>
            </a:r>
          </a:p>
          <a:p>
            <a:pPr algn="l" marL="1035858" indent="-345286" lvl="2">
              <a:lnSpc>
                <a:spcPts val="5664"/>
              </a:lnSpc>
              <a:buFont typeface="Arial"/>
              <a:buChar char="⚬"/>
            </a:pPr>
            <a:r>
              <a:rPr lang="en-US" sz="4531" u="sng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Provider</a:t>
            </a:r>
            <a:r>
              <a:rPr lang="en-US" sz="4531">
                <a:solidFill>
                  <a:srgbClr val="3C1812"/>
                </a:solidFill>
                <a:latin typeface="Bentham"/>
                <a:ea typeface="Bentham"/>
                <a:cs typeface="Bentham"/>
                <a:sym typeface="Bentham"/>
              </a:rPr>
              <a:t>: gerenciamento de estado do jogo.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5517" y="1040406"/>
            <a:ext cx="5563553" cy="114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8"/>
              </a:lnSpc>
            </a:pPr>
            <a:r>
              <a:rPr lang="en-US" sz="11579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Tecnologias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60840">
            <a:off x="14324209" y="33261"/>
            <a:ext cx="3778367" cy="2294925"/>
          </a:xfrm>
          <a:custGeom>
            <a:avLst/>
            <a:gdLst/>
            <a:ahLst/>
            <a:cxnLst/>
            <a:rect r="r" b="b" t="t" l="l"/>
            <a:pathLst>
              <a:path h="2294925" w="3778367">
                <a:moveTo>
                  <a:pt x="0" y="0"/>
                </a:moveTo>
                <a:lnTo>
                  <a:pt x="3778368" y="0"/>
                </a:lnTo>
                <a:lnTo>
                  <a:pt x="3778368" y="2294925"/>
                </a:lnTo>
                <a:lnTo>
                  <a:pt x="0" y="22949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7" t="0" r="-27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3987075" y="-399454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338640">
            <a:off x="-194010" y="4996329"/>
            <a:ext cx="3670564" cy="5263877"/>
          </a:xfrm>
          <a:custGeom>
            <a:avLst/>
            <a:gdLst/>
            <a:ahLst/>
            <a:cxnLst/>
            <a:rect r="r" b="b" t="t" l="l"/>
            <a:pathLst>
              <a:path h="5263877" w="3670564">
                <a:moveTo>
                  <a:pt x="0" y="0"/>
                </a:moveTo>
                <a:lnTo>
                  <a:pt x="3670564" y="0"/>
                </a:lnTo>
                <a:lnTo>
                  <a:pt x="3670564" y="5263877"/>
                </a:lnTo>
                <a:lnTo>
                  <a:pt x="0" y="5263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0" t="0" r="-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32033" y="955086"/>
            <a:ext cx="14341126" cy="169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61"/>
              </a:lnSpc>
            </a:pPr>
            <a:r>
              <a:rPr lang="en-US" sz="11874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Equipe de Desenvolvimento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65607" y="4399207"/>
            <a:ext cx="6884369" cy="8222355"/>
          </a:xfrm>
          <a:custGeom>
            <a:avLst/>
            <a:gdLst/>
            <a:ahLst/>
            <a:cxnLst/>
            <a:rect r="r" b="b" t="t" l="l"/>
            <a:pathLst>
              <a:path h="8222355" w="6884369">
                <a:moveTo>
                  <a:pt x="0" y="0"/>
                </a:moveTo>
                <a:lnTo>
                  <a:pt x="6884369" y="0"/>
                </a:lnTo>
                <a:lnTo>
                  <a:pt x="6884369" y="8222355"/>
                </a:lnTo>
                <a:lnTo>
                  <a:pt x="0" y="822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7" t="0" r="-4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91719" y="3496675"/>
            <a:ext cx="10077710" cy="81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5862" indent="-371954" lvl="2">
              <a:lnSpc>
                <a:spcPts val="6100"/>
              </a:lnSpc>
              <a:buFont typeface="Arial"/>
              <a:buChar char="⚬"/>
            </a:pPr>
            <a:r>
              <a:rPr lang="en-US" sz="4880">
                <a:solidFill>
                  <a:srgbClr val="000000"/>
                </a:solidFill>
                <a:latin typeface="Bentham"/>
                <a:ea typeface="Bentham"/>
                <a:cs typeface="Bentham"/>
                <a:sym typeface="Bentham"/>
              </a:rPr>
              <a:t>Cauã Vasconcelos Grecco de Faria 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1719" y="4323007"/>
            <a:ext cx="11148155" cy="81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5862" indent="-371954" lvl="2">
              <a:lnSpc>
                <a:spcPts val="6100"/>
              </a:lnSpc>
              <a:buFont typeface="Arial"/>
              <a:buChar char="⚬"/>
            </a:pPr>
            <a:r>
              <a:rPr lang="en-US" sz="4880">
                <a:solidFill>
                  <a:srgbClr val="000000"/>
                </a:solidFill>
                <a:latin typeface="Bentham"/>
                <a:ea typeface="Bentham"/>
                <a:cs typeface="Bentham"/>
                <a:sym typeface="Bentham"/>
              </a:rPr>
              <a:t>Leandro Nascimento Lucatelli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1719" y="5975671"/>
            <a:ext cx="8060503" cy="81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5862" indent="-371954" lvl="2">
              <a:lnSpc>
                <a:spcPts val="6100"/>
              </a:lnSpc>
              <a:buFont typeface="Arial"/>
              <a:buChar char="⚬"/>
            </a:pPr>
            <a:r>
              <a:rPr lang="en-US" sz="4880">
                <a:solidFill>
                  <a:srgbClr val="000000"/>
                </a:solidFill>
                <a:latin typeface="Bentham"/>
                <a:ea typeface="Bentham"/>
                <a:cs typeface="Bentham"/>
                <a:sym typeface="Bentham"/>
              </a:rPr>
              <a:t>Rodrigo de Faria Perico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1719" y="6811461"/>
            <a:ext cx="6508147" cy="81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5862" indent="-371954" lvl="2">
              <a:lnSpc>
                <a:spcPts val="6100"/>
              </a:lnSpc>
              <a:buFont typeface="Arial"/>
              <a:buChar char="⚬"/>
            </a:pPr>
            <a:r>
              <a:rPr lang="en-US" sz="4880">
                <a:solidFill>
                  <a:srgbClr val="000000"/>
                </a:solidFill>
                <a:latin typeface="Bentham"/>
                <a:ea typeface="Bentham"/>
                <a:cs typeface="Bentham"/>
                <a:sym typeface="Bentham"/>
              </a:rPr>
              <a:t>Gustavo Antunes  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91719" y="5149339"/>
            <a:ext cx="8627462" cy="816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5862" indent="-371954" lvl="2">
              <a:lnSpc>
                <a:spcPts val="6100"/>
              </a:lnSpc>
              <a:buFont typeface="Arial"/>
              <a:buChar char="⚬"/>
            </a:pPr>
            <a:r>
              <a:rPr lang="en-US" sz="4880">
                <a:solidFill>
                  <a:srgbClr val="000000"/>
                </a:solidFill>
                <a:latin typeface="Bentham"/>
                <a:ea typeface="Bentham"/>
                <a:cs typeface="Bentham"/>
                <a:sym typeface="Bentham"/>
              </a:rPr>
              <a:t>Pedro Henrique Vieira Lima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13716000" y="0"/>
                  </a:move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blipFill>
              <a:blip r:embed="rId2"/>
              <a:stretch>
                <a:fillRect l="-14947" t="0" r="-1494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38098" y="2150412"/>
            <a:ext cx="4080434" cy="8654844"/>
            <a:chOff x="0" y="0"/>
            <a:chExt cx="5440578" cy="11539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40553" cy="11539855"/>
            </a:xfrm>
            <a:custGeom>
              <a:avLst/>
              <a:gdLst/>
              <a:ahLst/>
              <a:cxnLst/>
              <a:rect r="r" b="b" t="t" l="l"/>
              <a:pathLst>
                <a:path h="11539855" w="5440553">
                  <a:moveTo>
                    <a:pt x="0" y="0"/>
                  </a:moveTo>
                  <a:lnTo>
                    <a:pt x="5440553" y="0"/>
                  </a:lnTo>
                  <a:lnTo>
                    <a:pt x="5440553" y="11539855"/>
                  </a:lnTo>
                  <a:lnTo>
                    <a:pt x="0" y="11539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626" t="0" r="-146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8613" y="7438196"/>
            <a:ext cx="3055163" cy="2848804"/>
            <a:chOff x="0" y="0"/>
            <a:chExt cx="4073550" cy="37984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73525" cy="3798443"/>
            </a:xfrm>
            <a:custGeom>
              <a:avLst/>
              <a:gdLst/>
              <a:ahLst/>
              <a:cxnLst/>
              <a:rect r="r" b="b" t="t" l="l"/>
              <a:pathLst>
                <a:path h="3798443" w="4073525">
                  <a:moveTo>
                    <a:pt x="0" y="0"/>
                  </a:moveTo>
                  <a:lnTo>
                    <a:pt x="4073525" y="0"/>
                  </a:lnTo>
                  <a:lnTo>
                    <a:pt x="4073525" y="3798443"/>
                  </a:lnTo>
                  <a:lnTo>
                    <a:pt x="0" y="3798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903" t="0" r="-20904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252180">
            <a:off x="7484821" y="7705839"/>
            <a:ext cx="7417041" cy="3074699"/>
          </a:xfrm>
          <a:custGeom>
            <a:avLst/>
            <a:gdLst/>
            <a:ahLst/>
            <a:cxnLst/>
            <a:rect r="r" b="b" t="t" l="l"/>
            <a:pathLst>
              <a:path h="3074699" w="7417041">
                <a:moveTo>
                  <a:pt x="0" y="0"/>
                </a:moveTo>
                <a:lnTo>
                  <a:pt x="7417041" y="0"/>
                </a:lnTo>
                <a:lnTo>
                  <a:pt x="7417041" y="3074699"/>
                </a:lnTo>
                <a:lnTo>
                  <a:pt x="0" y="30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65" r="0" b="-16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4811" y="1121712"/>
            <a:ext cx="3387300" cy="2057400"/>
          </a:xfrm>
          <a:custGeom>
            <a:avLst/>
            <a:gdLst/>
            <a:ahLst/>
            <a:cxnLst/>
            <a:rect r="r" b="b" t="t" l="l"/>
            <a:pathLst>
              <a:path h="2057400" w="3387300">
                <a:moveTo>
                  <a:pt x="0" y="0"/>
                </a:moveTo>
                <a:lnTo>
                  <a:pt x="3387299" y="0"/>
                </a:lnTo>
                <a:lnTo>
                  <a:pt x="338729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8" r="0" b="-17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06152" y="4229433"/>
            <a:ext cx="13875687" cy="213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1"/>
              </a:lnSpc>
            </a:pPr>
            <a:r>
              <a:rPr lang="en-US" sz="16009">
                <a:solidFill>
                  <a:srgbClr val="3C1812"/>
                </a:solidFill>
                <a:latin typeface="Water Brush"/>
                <a:ea typeface="Water Brush"/>
                <a:cs typeface="Water Brush"/>
                <a:sym typeface="Water Brush"/>
              </a:rPr>
              <a:t>OBRIGADO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977592" y="672513"/>
            <a:ext cx="6053928" cy="2163623"/>
          </a:xfrm>
          <a:custGeom>
            <a:avLst/>
            <a:gdLst/>
            <a:ahLst/>
            <a:cxnLst/>
            <a:rect r="r" b="b" t="t" l="l"/>
            <a:pathLst>
              <a:path h="2163623" w="6053928">
                <a:moveTo>
                  <a:pt x="0" y="0"/>
                </a:moveTo>
                <a:lnTo>
                  <a:pt x="6053928" y="0"/>
                </a:lnTo>
                <a:lnTo>
                  <a:pt x="6053928" y="2163622"/>
                </a:lnTo>
                <a:lnTo>
                  <a:pt x="0" y="21636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53" r="0" b="-15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211" y="1274112"/>
            <a:ext cx="3387300" cy="2057400"/>
          </a:xfrm>
          <a:custGeom>
            <a:avLst/>
            <a:gdLst/>
            <a:ahLst/>
            <a:cxnLst/>
            <a:rect r="r" b="b" t="t" l="l"/>
            <a:pathLst>
              <a:path h="2057400" w="3387300">
                <a:moveTo>
                  <a:pt x="0" y="0"/>
                </a:moveTo>
                <a:lnTo>
                  <a:pt x="3387299" y="0"/>
                </a:lnTo>
                <a:lnTo>
                  <a:pt x="338729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8" r="0" b="-17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DAHL7tcOA-c</dc:identifier>
  <dcterms:modified xsi:type="dcterms:W3CDTF">2011-08-01T06:04:30Z</dcterms:modified>
  <cp:revision>1</cp:revision>
  <dc:title>pi3_slides.pptx</dc:title>
</cp:coreProperties>
</file>